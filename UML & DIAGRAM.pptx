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68" r:id="rId21"/>
    <p:sldId id="265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7" r:id="rId32"/>
    <p:sldId id="289" r:id="rId33"/>
    <p:sldId id="290" r:id="rId34"/>
    <p:sldId id="291" r:id="rId35"/>
    <p:sldId id="292" r:id="rId36"/>
    <p:sldId id="293" r:id="rId37"/>
    <p:sldId id="299" r:id="rId38"/>
    <p:sldId id="295" r:id="rId39"/>
    <p:sldId id="300" r:id="rId40"/>
    <p:sldId id="296" r:id="rId41"/>
    <p:sldId id="297" r:id="rId42"/>
    <p:sldId id="298" r:id="rId43"/>
    <p:sldId id="301" r:id="rId44"/>
    <p:sldId id="302" r:id="rId45"/>
    <p:sldId id="303" r:id="rId46"/>
    <p:sldId id="304" r:id="rId47"/>
    <p:sldId id="305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75203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41892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646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146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185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545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498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8475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4674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29525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3188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13624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77054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730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4182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9330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750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87CA8-DC52-45F4-968C-2F20D3678B31}" type="datetimeFigureOut">
              <a:rPr lang="en-ID" smtClean="0"/>
              <a:t>18/05/2026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58AC2-49A7-4D64-BB5C-CCB159906DA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50228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7586-5A64-4C34-8D48-8BEFDDEB9C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UML &amp; DIAGRAM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F1DD7-937F-4792-ABD1-2CE0E9C5B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RPL TEAM 2</a:t>
            </a:r>
            <a:endParaRPr lang="en-ID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E115865-98F6-4AAE-BE1A-D0D28DB3CBF4}"/>
              </a:ext>
            </a:extLst>
          </p:cNvPr>
          <p:cNvSpPr txBox="1">
            <a:spLocks/>
          </p:cNvSpPr>
          <p:nvPr/>
        </p:nvSpPr>
        <p:spPr>
          <a:xfrm>
            <a:off x="9216326" y="3276600"/>
            <a:ext cx="2574621" cy="83017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200" b="1" dirty="0">
                <a:solidFill>
                  <a:schemeClr val="bg1"/>
                </a:solidFill>
              </a:rPr>
              <a:t>WEB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ELEKTORNIK MODERN</a:t>
            </a:r>
            <a:endParaRPr lang="en-ID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83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599FF-B465-4056-BB6C-05DE4B1A7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Unified Modeling Language</a:t>
            </a:r>
            <a:endParaRPr lang="en-ID" i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4D6F91-7602-4D76-BC66-5C739427B349}"/>
              </a:ext>
            </a:extLst>
          </p:cNvPr>
          <p:cNvSpPr txBox="1">
            <a:spLocks/>
          </p:cNvSpPr>
          <p:nvPr/>
        </p:nvSpPr>
        <p:spPr>
          <a:xfrm>
            <a:off x="749594" y="2263372"/>
            <a:ext cx="9613861" cy="43221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ID" sz="2000" dirty="0">
                <a:solidFill>
                  <a:schemeClr val="bg1"/>
                </a:solidFill>
              </a:rPr>
              <a:t>UML (</a:t>
            </a:r>
            <a:r>
              <a:rPr lang="en-ID" sz="2000" i="1" dirty="0">
                <a:solidFill>
                  <a:schemeClr val="bg1"/>
                </a:solidFill>
              </a:rPr>
              <a:t>Unified </a:t>
            </a:r>
            <a:r>
              <a:rPr lang="en-ID" sz="2000" i="1" dirty="0" err="1">
                <a:solidFill>
                  <a:schemeClr val="bg1"/>
                </a:solidFill>
              </a:rPr>
              <a:t>Modeling</a:t>
            </a:r>
            <a:r>
              <a:rPr lang="en-ID" sz="2000" i="1" dirty="0">
                <a:solidFill>
                  <a:schemeClr val="bg1"/>
                </a:solidFill>
              </a:rPr>
              <a:t> Language</a:t>
            </a:r>
            <a:r>
              <a:rPr lang="en-ID" sz="2000" dirty="0">
                <a:solidFill>
                  <a:schemeClr val="bg1"/>
                </a:solidFill>
              </a:rPr>
              <a:t>) </a:t>
            </a:r>
            <a:r>
              <a:rPr lang="en-ID" sz="2000" dirty="0" err="1">
                <a:solidFill>
                  <a:schemeClr val="bg1"/>
                </a:solidFill>
              </a:rPr>
              <a:t>adalah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bahasa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pemodelan</a:t>
            </a:r>
            <a:r>
              <a:rPr lang="en-ID" sz="2000" dirty="0">
                <a:solidFill>
                  <a:schemeClr val="bg1"/>
                </a:solidFill>
              </a:rPr>
              <a:t> yang </a:t>
            </a:r>
            <a:r>
              <a:rPr lang="en-ID" sz="2000" dirty="0" err="1">
                <a:solidFill>
                  <a:schemeClr val="bg1"/>
                </a:solidFill>
              </a:rPr>
              <a:t>digunakan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untuk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merancang</a:t>
            </a:r>
            <a:r>
              <a:rPr lang="en-ID" sz="2000" dirty="0">
                <a:solidFill>
                  <a:schemeClr val="bg1"/>
                </a:solidFill>
              </a:rPr>
              <a:t> dan </a:t>
            </a:r>
            <a:r>
              <a:rPr lang="en-ID" sz="2000" dirty="0" err="1">
                <a:solidFill>
                  <a:schemeClr val="bg1"/>
                </a:solidFill>
              </a:rPr>
              <a:t>menggambarkan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sistem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perangkat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lunak</a:t>
            </a:r>
            <a:r>
              <a:rPr lang="en-ID" sz="2000" dirty="0">
                <a:solidFill>
                  <a:schemeClr val="bg1"/>
                </a:solidFill>
              </a:rPr>
              <a:t> agar proses </a:t>
            </a:r>
            <a:r>
              <a:rPr lang="en-ID" sz="2000" dirty="0" err="1">
                <a:solidFill>
                  <a:schemeClr val="bg1"/>
                </a:solidFill>
              </a:rPr>
              <a:t>pengembangan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lebih</a:t>
            </a:r>
            <a:r>
              <a:rPr lang="en-ID" sz="2000" dirty="0">
                <a:solidFill>
                  <a:schemeClr val="bg1"/>
                </a:solidFill>
              </a:rPr>
              <a:t> </a:t>
            </a:r>
            <a:r>
              <a:rPr lang="en-ID" sz="2000" dirty="0" err="1">
                <a:solidFill>
                  <a:schemeClr val="bg1"/>
                </a:solidFill>
              </a:rPr>
              <a:t>terstruktur</a:t>
            </a:r>
            <a:r>
              <a:rPr lang="en-ID" sz="2000" dirty="0">
                <a:solidFill>
                  <a:schemeClr val="bg1"/>
                </a:solidFill>
              </a:rPr>
              <a:t>.</a:t>
            </a:r>
          </a:p>
          <a:p>
            <a:pPr algn="just"/>
            <a:endParaRPr lang="en-ID" sz="2000" i="1" dirty="0">
              <a:solidFill>
                <a:schemeClr val="bg1"/>
              </a:solidFill>
            </a:endParaRPr>
          </a:p>
          <a:p>
            <a:pPr algn="just"/>
            <a:r>
              <a:rPr lang="en-ID" sz="2000" i="1" dirty="0">
                <a:solidFill>
                  <a:schemeClr val="bg1"/>
                </a:solidFill>
              </a:rPr>
              <a:t>- Activity Diagram</a:t>
            </a:r>
          </a:p>
          <a:p>
            <a:pPr algn="just"/>
            <a:r>
              <a:rPr lang="en-ID" sz="2000" i="1" dirty="0">
                <a:solidFill>
                  <a:schemeClr val="bg1"/>
                </a:solidFill>
              </a:rPr>
              <a:t>	</a:t>
            </a:r>
            <a:r>
              <a:rPr lang="en-ID" sz="1500" i="1" dirty="0" err="1">
                <a:solidFill>
                  <a:schemeClr val="bg1"/>
                </a:solidFill>
              </a:rPr>
              <a:t>adalah</a:t>
            </a:r>
            <a:r>
              <a:rPr lang="en-ID" sz="1500" i="1" dirty="0">
                <a:solidFill>
                  <a:schemeClr val="bg1"/>
                </a:solidFill>
              </a:rPr>
              <a:t> diagram UML yang </a:t>
            </a:r>
            <a:r>
              <a:rPr lang="en-ID" sz="1500" i="1" dirty="0" err="1">
                <a:solidFill>
                  <a:schemeClr val="bg1"/>
                </a:solidFill>
              </a:rPr>
              <a:t>digunakan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untuk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menggambarkan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alur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aktivitas</a:t>
            </a:r>
            <a:r>
              <a:rPr lang="en-ID" sz="1500" i="1" dirty="0">
                <a:solidFill>
                  <a:schemeClr val="bg1"/>
                </a:solidFill>
              </a:rPr>
              <a:t> 	</a:t>
            </a:r>
            <a:r>
              <a:rPr lang="en-ID" sz="1500" i="1" dirty="0" err="1">
                <a:solidFill>
                  <a:schemeClr val="bg1"/>
                </a:solidFill>
              </a:rPr>
              <a:t>atau</a:t>
            </a:r>
            <a:r>
              <a:rPr lang="en-ID" sz="1500" i="1" dirty="0">
                <a:solidFill>
                  <a:schemeClr val="bg1"/>
                </a:solidFill>
              </a:rPr>
              <a:t> proses </a:t>
            </a:r>
            <a:r>
              <a:rPr lang="en-ID" sz="1500" i="1" dirty="0" err="1">
                <a:solidFill>
                  <a:schemeClr val="bg1"/>
                </a:solidFill>
              </a:rPr>
              <a:t>kerja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dalam</a:t>
            </a:r>
            <a:r>
              <a:rPr lang="en-ID" sz="1500" i="1" dirty="0">
                <a:solidFill>
                  <a:schemeClr val="bg1"/>
                </a:solidFill>
              </a:rPr>
              <a:t> 	</a:t>
            </a:r>
            <a:r>
              <a:rPr lang="en-ID" sz="1500" i="1" dirty="0" err="1">
                <a:solidFill>
                  <a:schemeClr val="bg1"/>
                </a:solidFill>
              </a:rPr>
              <a:t>suatu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sistem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dari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awal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hingga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akhir</a:t>
            </a:r>
            <a:endParaRPr lang="en-ID" sz="1500" i="1" dirty="0">
              <a:solidFill>
                <a:schemeClr val="bg1"/>
              </a:solidFill>
            </a:endParaRPr>
          </a:p>
          <a:p>
            <a:pPr algn="just"/>
            <a:endParaRPr lang="en-ID" sz="2000" i="1" dirty="0">
              <a:solidFill>
                <a:schemeClr val="bg1"/>
              </a:solidFill>
            </a:endParaRPr>
          </a:p>
          <a:p>
            <a:pPr algn="just"/>
            <a:r>
              <a:rPr lang="en-ID" sz="2000" i="1" dirty="0">
                <a:solidFill>
                  <a:schemeClr val="bg1"/>
                </a:solidFill>
              </a:rPr>
              <a:t>- Sequence Diagram</a:t>
            </a:r>
          </a:p>
          <a:p>
            <a:pPr algn="just"/>
            <a:r>
              <a:rPr lang="en-ID" sz="2000" i="1" dirty="0">
                <a:solidFill>
                  <a:schemeClr val="bg1"/>
                </a:solidFill>
              </a:rPr>
              <a:t>	</a:t>
            </a:r>
            <a:r>
              <a:rPr lang="en-ID" sz="1500" i="1" dirty="0" err="1">
                <a:solidFill>
                  <a:schemeClr val="bg1"/>
                </a:solidFill>
              </a:rPr>
              <a:t>adalah</a:t>
            </a:r>
            <a:r>
              <a:rPr lang="en-ID" sz="1500" i="1" dirty="0">
                <a:solidFill>
                  <a:schemeClr val="bg1"/>
                </a:solidFill>
              </a:rPr>
              <a:t> diagram UML yang </a:t>
            </a:r>
            <a:r>
              <a:rPr lang="en-ID" sz="1500" i="1" dirty="0" err="1">
                <a:solidFill>
                  <a:schemeClr val="bg1"/>
                </a:solidFill>
              </a:rPr>
              <a:t>digunakan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untuk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menggambarkan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urutan</a:t>
            </a:r>
            <a:r>
              <a:rPr lang="en-ID" sz="1500" i="1" dirty="0">
                <a:solidFill>
                  <a:schemeClr val="bg1"/>
                </a:solidFill>
              </a:rPr>
              <a:t> 	</a:t>
            </a:r>
            <a:r>
              <a:rPr lang="en-ID" sz="1500" i="1" dirty="0" err="1">
                <a:solidFill>
                  <a:schemeClr val="bg1"/>
                </a:solidFill>
              </a:rPr>
              <a:t>interaksi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antar</a:t>
            </a:r>
            <a:r>
              <a:rPr lang="en-ID" sz="1500" i="1" dirty="0">
                <a:solidFill>
                  <a:schemeClr val="bg1"/>
                </a:solidFill>
              </a:rPr>
              <a:t> actor 	dan </a:t>
            </a:r>
            <a:r>
              <a:rPr lang="en-ID" sz="1500" i="1" dirty="0" err="1">
                <a:solidFill>
                  <a:schemeClr val="bg1"/>
                </a:solidFill>
              </a:rPr>
              <a:t>sistem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berdasarkan</a:t>
            </a:r>
            <a:r>
              <a:rPr lang="en-ID" sz="1500" i="1" dirty="0">
                <a:solidFill>
                  <a:schemeClr val="bg1"/>
                </a:solidFill>
              </a:rPr>
              <a:t> </a:t>
            </a:r>
            <a:r>
              <a:rPr lang="en-ID" sz="1500" i="1" dirty="0" err="1">
                <a:solidFill>
                  <a:schemeClr val="bg1"/>
                </a:solidFill>
              </a:rPr>
              <a:t>waktu</a:t>
            </a:r>
            <a:r>
              <a:rPr lang="en-ID" sz="1500" i="1" dirty="0">
                <a:solidFill>
                  <a:schemeClr val="bg1"/>
                </a:solidFill>
              </a:rPr>
              <a:t> proses </a:t>
            </a:r>
            <a:r>
              <a:rPr lang="en-ID" sz="1500" i="1" dirty="0" err="1">
                <a:solidFill>
                  <a:schemeClr val="bg1"/>
                </a:solidFill>
              </a:rPr>
              <a:t>berlangsung</a:t>
            </a:r>
            <a:endParaRPr lang="en-ID" sz="1500" i="1" dirty="0">
              <a:solidFill>
                <a:schemeClr val="bg1"/>
              </a:solidFill>
            </a:endParaRPr>
          </a:p>
          <a:p>
            <a:pPr algn="just"/>
            <a:r>
              <a:rPr lang="en-ID" sz="2000" i="1" dirty="0">
                <a:solidFill>
                  <a:schemeClr val="bg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85617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BD78-FB58-4621-B4F9-93E9AC73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ACTIVITY DIAGRAM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6D982-58FD-497C-9C6A-5E3BCCEAB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– ADMIN - OWNER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7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7F22-2E69-4206-8F35-8468CC69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ACTIVITY DIAGRAM CUSTOMER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A16BD-080E-4FDD-8FFE-73707CE2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3"/>
            <a:ext cx="5314077" cy="3599315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Login </a:t>
            </a:r>
            <a:r>
              <a:rPr lang="en-US" sz="3000" dirty="0" err="1">
                <a:solidFill>
                  <a:schemeClr val="bg1"/>
                </a:solidFill>
              </a:rPr>
              <a:t>akun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Edit </a:t>
            </a:r>
            <a:r>
              <a:rPr lang="en-US" sz="3000" dirty="0" err="1">
                <a:solidFill>
                  <a:schemeClr val="bg1"/>
                </a:solidFill>
              </a:rPr>
              <a:t>profil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Register </a:t>
            </a:r>
            <a:r>
              <a:rPr lang="en-US" sz="3000" dirty="0" err="1">
                <a:solidFill>
                  <a:schemeClr val="bg1"/>
                </a:solidFill>
              </a:rPr>
              <a:t>akun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Riwayat </a:t>
            </a:r>
            <a:r>
              <a:rPr lang="en-ID" sz="3000" dirty="0" err="1">
                <a:solidFill>
                  <a:schemeClr val="bg1"/>
                </a:solidFill>
              </a:rPr>
              <a:t>pesanan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Checkout </a:t>
            </a:r>
            <a:r>
              <a:rPr lang="en-ID" sz="3000" dirty="0" err="1">
                <a:solidFill>
                  <a:schemeClr val="bg1"/>
                </a:solidFill>
              </a:rPr>
              <a:t>pesanan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 err="1">
                <a:solidFill>
                  <a:schemeClr val="bg1"/>
                </a:solidFill>
              </a:rPr>
              <a:t>Memasukkan</a:t>
            </a:r>
            <a:r>
              <a:rPr lang="en-ID" sz="3000" dirty="0">
                <a:solidFill>
                  <a:schemeClr val="bg1"/>
                </a:solidFill>
              </a:rPr>
              <a:t> </a:t>
            </a:r>
            <a:r>
              <a:rPr lang="en-ID" sz="3000" dirty="0" err="1">
                <a:solidFill>
                  <a:schemeClr val="bg1"/>
                </a:solidFill>
              </a:rPr>
              <a:t>keranjang</a:t>
            </a:r>
            <a:endParaRPr lang="en-ID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8776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AKUN</a:t>
            </a:r>
            <a:endParaRPr lang="en-ID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4ABFD1-9745-4468-BC3D-48C8D95AC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937" r="17720"/>
          <a:stretch/>
        </p:blipFill>
        <p:spPr>
          <a:xfrm>
            <a:off x="6395028" y="375811"/>
            <a:ext cx="5634181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5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PROFILE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6015B8-332A-4BF7-9395-3FC205588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568" y="356759"/>
            <a:ext cx="5763429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361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AKUN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B926D1-44C0-4C12-8BFD-0668F7300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411" y="366333"/>
            <a:ext cx="5744377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887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RIWAYAT PEMESANAN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F9BE2-F74A-4DC1-B6B3-72611C47B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759" y="432969"/>
            <a:ext cx="6144482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513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CHECKOUT PESANAN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20889-16F9-454E-B5C1-2D6177219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51995"/>
            <a:ext cx="5839640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MEMASUKKAN KERANJANG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3C7BA-0C76-41CE-B8B8-C82202C5C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42495"/>
            <a:ext cx="5668166" cy="5973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64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7F22-2E69-4206-8F35-8468CC69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ACTIVITY DIAGRAM ADMIN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A16BD-080E-4FDD-8FFE-73707CE2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3"/>
            <a:ext cx="5314077" cy="3599315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sz="3000" dirty="0" err="1">
                <a:solidFill>
                  <a:schemeClr val="bg1"/>
                </a:solidFill>
              </a:rPr>
              <a:t>Verifikasi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pemesanan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Kelola </a:t>
            </a:r>
            <a:r>
              <a:rPr lang="en-US" sz="3000" dirty="0" err="1">
                <a:solidFill>
                  <a:schemeClr val="bg1"/>
                </a:solidFill>
              </a:rPr>
              <a:t>produk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Kelola </a:t>
            </a:r>
            <a:r>
              <a:rPr lang="en-US" sz="3000" dirty="0" err="1">
                <a:solidFill>
                  <a:schemeClr val="bg1"/>
                </a:solidFill>
              </a:rPr>
              <a:t>pesanan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Kelola </a:t>
            </a:r>
            <a:r>
              <a:rPr lang="en-ID" sz="3000" dirty="0" err="1">
                <a:solidFill>
                  <a:schemeClr val="bg1"/>
                </a:solidFill>
              </a:rPr>
              <a:t>kategori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Kelola </a:t>
            </a:r>
            <a:r>
              <a:rPr lang="en-ID" sz="3000" dirty="0" err="1">
                <a:solidFill>
                  <a:schemeClr val="bg1"/>
                </a:solidFill>
              </a:rPr>
              <a:t>pengguna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Kelola </a:t>
            </a:r>
            <a:r>
              <a:rPr lang="en-ID" sz="3000" dirty="0" err="1">
                <a:solidFill>
                  <a:schemeClr val="bg1"/>
                </a:solidFill>
              </a:rPr>
              <a:t>promosi</a:t>
            </a:r>
            <a:endParaRPr lang="en-ID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071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 PEMBAYARAN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BD76E6-B9E7-4C73-B380-B5BC9CDCA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379" y="463360"/>
            <a:ext cx="6976131" cy="564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60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PRODUK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20B616-8CD7-43BB-A6A2-73D33203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684" y="456785"/>
            <a:ext cx="7211431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922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PRODUK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DE48F-B36E-4F2C-BA2E-067E059B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21" y="753228"/>
            <a:ext cx="7230484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791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PESANAN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EFD837-E557-4824-991C-0629472D4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4183" y="413906"/>
            <a:ext cx="6030167" cy="61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428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KATEGORI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1150AC-023C-4DF5-9F3E-0D3B69F96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645" y="413916"/>
            <a:ext cx="6925642" cy="6030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1734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PENGGUNA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D98B99-3478-445B-AE35-CD05D24C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210" y="252558"/>
            <a:ext cx="5468113" cy="550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4619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PENGGUNA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2F1A9A-ED57-4633-8128-7D281BBC4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266" y="463136"/>
            <a:ext cx="6572387" cy="456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09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PROMOSI</a:t>
            </a:r>
            <a:endParaRPr lang="en-ID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1F9D15-ACA6-4435-AE72-C5E553ED3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7" y="0"/>
            <a:ext cx="52917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86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7F22-2E69-4206-8F35-8468CC69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ACTIVITY DIAGRAM OWNER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A16BD-080E-4FDD-8FFE-73707CE2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3"/>
            <a:ext cx="5314077" cy="3599315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Login owner</a:t>
            </a:r>
          </a:p>
          <a:p>
            <a:pPr marL="457200" indent="-457200">
              <a:buFontTx/>
              <a:buChar char="-"/>
            </a:pPr>
            <a:r>
              <a:rPr lang="en-US" sz="3000" dirty="0" err="1">
                <a:solidFill>
                  <a:schemeClr val="bg1"/>
                </a:solidFill>
              </a:rPr>
              <a:t>Melihat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laporan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penjualan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393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OWNER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A6556-9F90-451E-9B38-523E4D6B8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2704" y="260506"/>
            <a:ext cx="5792008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60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SELLING REPORT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B19272-8BC0-4106-9036-74A52F9D7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337" y="388974"/>
            <a:ext cx="7039957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51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BD78-FB58-4621-B4F9-93E9AC737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SEQUENCE DIAGRAM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6D982-58FD-497C-9C6A-5E3BCCEAB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CUSTOMER – ADMIN - OWNER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339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7F22-2E69-4206-8F35-8468CC69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SEQUENCE DIAGRAM CUSTOMER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A16BD-080E-4FDD-8FFE-73707CE2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3"/>
            <a:ext cx="5314077" cy="3599315"/>
          </a:xfrm>
        </p:spPr>
        <p:txBody>
          <a:bodyPr>
            <a:normAutofit lnSpcReduction="10000"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Login </a:t>
            </a:r>
            <a:r>
              <a:rPr lang="en-US" sz="3000" dirty="0" err="1">
                <a:solidFill>
                  <a:schemeClr val="bg1"/>
                </a:solidFill>
              </a:rPr>
              <a:t>akun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Edit </a:t>
            </a:r>
            <a:r>
              <a:rPr lang="en-US" sz="3000" dirty="0" err="1">
                <a:solidFill>
                  <a:schemeClr val="bg1"/>
                </a:solidFill>
              </a:rPr>
              <a:t>profil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Register </a:t>
            </a:r>
            <a:r>
              <a:rPr lang="en-US" sz="3000" dirty="0" err="1">
                <a:solidFill>
                  <a:schemeClr val="bg1"/>
                </a:solidFill>
              </a:rPr>
              <a:t>akun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Riwayat </a:t>
            </a:r>
            <a:r>
              <a:rPr lang="en-ID" sz="3000" dirty="0" err="1">
                <a:solidFill>
                  <a:schemeClr val="bg1"/>
                </a:solidFill>
              </a:rPr>
              <a:t>pesanan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Checkout </a:t>
            </a:r>
            <a:r>
              <a:rPr lang="en-ID" sz="3000" dirty="0" err="1">
                <a:solidFill>
                  <a:schemeClr val="bg1"/>
                </a:solidFill>
              </a:rPr>
              <a:t>pesanan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 err="1">
                <a:solidFill>
                  <a:schemeClr val="bg1"/>
                </a:solidFill>
              </a:rPr>
              <a:t>Memasukkan</a:t>
            </a:r>
            <a:r>
              <a:rPr lang="en-ID" sz="3000" dirty="0">
                <a:solidFill>
                  <a:schemeClr val="bg1"/>
                </a:solidFill>
              </a:rPr>
              <a:t> </a:t>
            </a:r>
            <a:r>
              <a:rPr lang="en-ID" sz="3000" dirty="0" err="1">
                <a:solidFill>
                  <a:schemeClr val="bg1"/>
                </a:solidFill>
              </a:rPr>
              <a:t>keranjang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Detail </a:t>
            </a:r>
            <a:r>
              <a:rPr lang="en-ID" sz="3000" dirty="0" err="1">
                <a:solidFill>
                  <a:schemeClr val="bg1"/>
                </a:solidFill>
              </a:rPr>
              <a:t>produk</a:t>
            </a:r>
            <a:endParaRPr lang="en-ID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2488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AKUN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68425-4F37-4121-B08C-2DB6CEFBB14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4183581" y="281539"/>
            <a:ext cx="7698578" cy="629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0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EDIT PROFILE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48DFF9-CA52-457A-89C8-B48725EF4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371" y="114823"/>
            <a:ext cx="7424854" cy="662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94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AKUN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27FE8-0487-496B-8B4E-D8D8FB87B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420" y="322290"/>
            <a:ext cx="7335274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241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RIWAYAT PEMESANAN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641FBB-C447-482C-9BEB-28B7A71788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057"/>
          <a:stretch/>
        </p:blipFill>
        <p:spPr>
          <a:xfrm>
            <a:off x="3842769" y="1754593"/>
            <a:ext cx="8164064" cy="435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0988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CHECKOUT PESANAN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9783C1-06B3-42EC-B3F4-4BDDF495C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862" y="1692142"/>
            <a:ext cx="7751083" cy="441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6165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CHECKOUT PESANAN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35160-DA95-48AC-9974-AEC5C01D1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094" y="1665786"/>
            <a:ext cx="8566176" cy="443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8771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MEMASUKKAN KERANJANG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01688-66EB-4C29-A7DA-8CD617B01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103" y="1545048"/>
            <a:ext cx="6401693" cy="513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936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 PRODUK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5EE0C-E7D2-4204-B06E-94E1870ED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51" y="753228"/>
            <a:ext cx="6359810" cy="5671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1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7F22-2E69-4206-8F35-8468CC69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SEQUENCE DIAGRAM ADMIN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A16BD-080E-4FDD-8FFE-73707CE2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3"/>
            <a:ext cx="5314077" cy="3599315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Login admin</a:t>
            </a:r>
          </a:p>
          <a:p>
            <a:pPr marL="457200" indent="-457200">
              <a:buFontTx/>
              <a:buChar char="-"/>
            </a:pPr>
            <a:r>
              <a:rPr lang="en-US" sz="3000" dirty="0" err="1">
                <a:solidFill>
                  <a:schemeClr val="bg1"/>
                </a:solidFill>
              </a:rPr>
              <a:t>Verifikasi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pemesanan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Kelola </a:t>
            </a:r>
            <a:r>
              <a:rPr lang="en-US" sz="3000" dirty="0" err="1">
                <a:solidFill>
                  <a:schemeClr val="bg1"/>
                </a:solidFill>
              </a:rPr>
              <a:t>produk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Kelola </a:t>
            </a:r>
            <a:r>
              <a:rPr lang="en-ID" sz="3000" dirty="0" err="1">
                <a:solidFill>
                  <a:schemeClr val="bg1"/>
                </a:solidFill>
              </a:rPr>
              <a:t>kategori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Kelola </a:t>
            </a:r>
            <a:r>
              <a:rPr lang="en-ID" sz="3000" dirty="0" err="1">
                <a:solidFill>
                  <a:schemeClr val="bg1"/>
                </a:solidFill>
              </a:rPr>
              <a:t>pengguna</a:t>
            </a:r>
            <a:endParaRPr lang="en-ID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ID" sz="3000" dirty="0">
                <a:solidFill>
                  <a:schemeClr val="bg1"/>
                </a:solidFill>
              </a:rPr>
              <a:t>Kelola </a:t>
            </a:r>
            <a:r>
              <a:rPr lang="en-ID" sz="3000" dirty="0" err="1">
                <a:solidFill>
                  <a:schemeClr val="bg1"/>
                </a:solidFill>
              </a:rPr>
              <a:t>promosi</a:t>
            </a:r>
            <a:endParaRPr lang="en-ID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7621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ADMIN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89F76-93DF-4D79-B754-4700009F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017" y="274796"/>
            <a:ext cx="7268589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3658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 PEMESANAN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08FCB7-ADE1-4946-A1A0-AEFD598FC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173" y="142416"/>
            <a:ext cx="7335274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PRODUK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FB370-9361-4567-ADBF-3EF9D37E2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399" y="504417"/>
            <a:ext cx="7621064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2471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PRODUK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B9A839-D0D2-4872-8F20-F265FC133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815" y="108284"/>
            <a:ext cx="7053236" cy="664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1658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KATEGORI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A6AA74-6BF3-410E-8236-63C22128B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653" y="221610"/>
            <a:ext cx="7621064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115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KATEGORI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5F8E7E-5B99-4057-B2DA-471F82B53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79" y="103471"/>
            <a:ext cx="7040214" cy="665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6162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PENGGUNA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867EEB-3E20-447F-B369-6C9636150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506" y="276087"/>
            <a:ext cx="7186653" cy="58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84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PENGGUNA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2CECD-A3C7-42DA-8E89-D0BFBA0D9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40" y="457196"/>
            <a:ext cx="7133406" cy="471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620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PROMOSI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713AFE-E89A-433B-8626-11B74492A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1764" y="231007"/>
            <a:ext cx="6805364" cy="61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3361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KELOLA PROMOSI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DFAF4A-22A5-4B98-B777-FC825C02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393" y="237679"/>
            <a:ext cx="7535327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0191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7F22-2E69-4206-8F35-8468CC69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SEQUENCE DIAGRAM OWNER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A16BD-080E-4FDD-8FFE-73707CE27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0322" y="2336873"/>
            <a:ext cx="5314077" cy="3599315"/>
          </a:xfrm>
        </p:spPr>
        <p:txBody>
          <a:bodyPr>
            <a:normAutofit/>
          </a:bodyPr>
          <a:lstStyle/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Login owner</a:t>
            </a:r>
          </a:p>
          <a:p>
            <a:pPr marL="457200" indent="-457200">
              <a:buFontTx/>
              <a:buChar char="-"/>
            </a:pPr>
            <a:r>
              <a:rPr lang="en-US" sz="3000" dirty="0" err="1">
                <a:solidFill>
                  <a:schemeClr val="bg1"/>
                </a:solidFill>
              </a:rPr>
              <a:t>Melihat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laporan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 err="1">
                <a:solidFill>
                  <a:schemeClr val="bg1"/>
                </a:solidFill>
              </a:rPr>
              <a:t>penjualan</a:t>
            </a: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052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 OWNER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8E755A-8C70-4579-9F21-C0E05689A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621" y="357562"/>
            <a:ext cx="7545511" cy="614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87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9B91-7802-4583-88E6-85DA826B1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SELLING REPORT</a:t>
            </a:r>
            <a:endParaRPr lang="en-ID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AE0242-CD37-4DFD-8336-9A8B37B4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244" y="189148"/>
            <a:ext cx="7530239" cy="647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82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60AC6-A5BB-45F1-83A0-85DF0F0D5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TERIMAKASIH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98E28-CBCE-46E6-85A1-A28A8A19E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RPL TEAM 2</a:t>
            </a:r>
            <a:endParaRPr lang="en-ID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74280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83</TotalTime>
  <Words>254</Words>
  <Application>Microsoft Office PowerPoint</Application>
  <PresentationFormat>Widescreen</PresentationFormat>
  <Paragraphs>95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Trebuchet MS</vt:lpstr>
      <vt:lpstr>Berlin</vt:lpstr>
      <vt:lpstr>UML &amp; DIAGRAM</vt:lpstr>
      <vt:lpstr>Unified Modeling Language</vt:lpstr>
      <vt:lpstr>ACTIVITY DIAGRAM</vt:lpstr>
      <vt:lpstr>ACTIVITY DIAGRAM CUSTOMER</vt:lpstr>
      <vt:lpstr>LOGIN AKUN</vt:lpstr>
      <vt:lpstr>EDIT PROFILE</vt:lpstr>
      <vt:lpstr>REGISTER AKUN</vt:lpstr>
      <vt:lpstr>RIWAYAT PEMESANAN</vt:lpstr>
      <vt:lpstr>CHECKOUT PESANAN</vt:lpstr>
      <vt:lpstr>MEMASUKKAN KERANJANG</vt:lpstr>
      <vt:lpstr>ACTIVITY DIAGRAM ADMIN</vt:lpstr>
      <vt:lpstr>VERIF PEMBAYARAN</vt:lpstr>
      <vt:lpstr>KELOLA PRODUK</vt:lpstr>
      <vt:lpstr>KELOLA PRODUK</vt:lpstr>
      <vt:lpstr>KELOLA PESANAN</vt:lpstr>
      <vt:lpstr>KELOLA KATEGORI</vt:lpstr>
      <vt:lpstr>KELOLA PENGGUNA</vt:lpstr>
      <vt:lpstr>KELOLA PENGGUNA</vt:lpstr>
      <vt:lpstr>KELOLA PROMOSI</vt:lpstr>
      <vt:lpstr>ACTIVITY DIAGRAM OWNER</vt:lpstr>
      <vt:lpstr>LOGIN OWNER</vt:lpstr>
      <vt:lpstr>SELLING REPORT</vt:lpstr>
      <vt:lpstr>SEQUENCE DIAGRAM</vt:lpstr>
      <vt:lpstr>SEQUENCE DIAGRAM CUSTOMER</vt:lpstr>
      <vt:lpstr>LOGIN AKUN</vt:lpstr>
      <vt:lpstr>EDIT PROFILE</vt:lpstr>
      <vt:lpstr>REGISTER AKUN</vt:lpstr>
      <vt:lpstr>RIWAYAT PEMESANAN</vt:lpstr>
      <vt:lpstr>CHECKOUT PESANAN</vt:lpstr>
      <vt:lpstr>CHECKOUT PESANAN</vt:lpstr>
      <vt:lpstr>MEMASUKKAN KERANJANG</vt:lpstr>
      <vt:lpstr>DETAIL PRODUK</vt:lpstr>
      <vt:lpstr>SEQUENCE DIAGRAM ADMIN</vt:lpstr>
      <vt:lpstr>LOGIN ADMIN</vt:lpstr>
      <vt:lpstr>VERIF PEMESANAN</vt:lpstr>
      <vt:lpstr>KELOLA PRODUK</vt:lpstr>
      <vt:lpstr>KELOLA PRODUK</vt:lpstr>
      <vt:lpstr>KELOLA KATEGORI</vt:lpstr>
      <vt:lpstr>KELOLA KATEGORI</vt:lpstr>
      <vt:lpstr>KELOLA PENGGUNA</vt:lpstr>
      <vt:lpstr>KELOLA PENGGUNA</vt:lpstr>
      <vt:lpstr>KELOLA PROMOSI</vt:lpstr>
      <vt:lpstr>KELOLA PROMOSI</vt:lpstr>
      <vt:lpstr>SEQUENCE DIAGRAM OWNER</vt:lpstr>
      <vt:lpstr>LOGIN OWNER</vt:lpstr>
      <vt:lpstr>SELLING REPORT</vt:lpstr>
      <vt:lpstr>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 &amp; DIAGRAM</dc:title>
  <dc:creator>HP</dc:creator>
  <cp:lastModifiedBy>HP</cp:lastModifiedBy>
  <cp:revision>9</cp:revision>
  <dcterms:created xsi:type="dcterms:W3CDTF">2026-05-18T15:48:49Z</dcterms:created>
  <dcterms:modified xsi:type="dcterms:W3CDTF">2026-05-18T17:12:32Z</dcterms:modified>
</cp:coreProperties>
</file>